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4.jpg" ContentType="image/jpeg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77" r:id="rId2"/>
    <p:sldId id="278" r:id="rId3"/>
    <p:sldId id="285" r:id="rId4"/>
    <p:sldId id="284" r:id="rId5"/>
    <p:sldId id="288" r:id="rId6"/>
    <p:sldId id="287" r:id="rId7"/>
    <p:sldId id="280" r:id="rId8"/>
    <p:sldId id="286" r:id="rId9"/>
    <p:sldId id="282" r:id="rId10"/>
    <p:sldId id="289" r:id="rId11"/>
    <p:sldId id="283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D68631"/>
    <a:srgbClr val="002568"/>
    <a:srgbClr val="00091A"/>
    <a:srgbClr val="126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720" y="-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r-BA"/>
              <a:t>Grafik detekcije mina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33733595800525"/>
          <c:y val="0.10923261016405271"/>
          <c:w val="0.84704330708661413"/>
          <c:h val="0.69476579517695269"/>
        </c:manualLayout>
      </c:layout>
      <c:lineChart>
        <c:grouping val="stack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Detekcija mina u cm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List1!$A$2:$A$5</c:f>
              <c:strCache>
                <c:ptCount val="4"/>
                <c:pt idx="0">
                  <c:v>Odlicna detekcija</c:v>
                </c:pt>
                <c:pt idx="1">
                  <c:v>Dobra detekcija</c:v>
                </c:pt>
                <c:pt idx="2">
                  <c:v>Slabija detakcija</c:v>
                </c:pt>
                <c:pt idx="3">
                  <c:v>Nema detekcije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2.5</c:v>
                </c:pt>
                <c:pt idx="3">
                  <c:v>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95B0-4D44-8312-1E60EE185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998272"/>
        <c:axId val="137000448"/>
      </c:lineChart>
      <c:catAx>
        <c:axId val="13699827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r-BA" sz="1500" baseline="0"/>
                  <a:t>Ucinkovitost detekcije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1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000448"/>
        <c:crosses val="autoZero"/>
        <c:auto val="1"/>
        <c:lblAlgn val="ctr"/>
        <c:lblOffset val="100"/>
        <c:noMultiLvlLbl val="0"/>
      </c:catAx>
      <c:valAx>
        <c:axId val="13700044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r-BA" sz="1500" baseline="0"/>
                  <a:t>Udaljenost u cm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99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r-BA"/>
              <a:t>Grafik brzine hoda na raznim terenima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Brzina hoda u cm/s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List1!$A$2:$A$5</c:f>
              <c:strCache>
                <c:ptCount val="4"/>
                <c:pt idx="0">
                  <c:v>Zemlja</c:v>
                </c:pt>
                <c:pt idx="1">
                  <c:v>Tepih</c:v>
                </c:pt>
                <c:pt idx="2">
                  <c:v>Laminat</c:v>
                </c:pt>
                <c:pt idx="3">
                  <c:v>Pločice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2.5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92A-4D75-BC80-C173C9AB9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37341184"/>
        <c:axId val="137347072"/>
      </c:barChart>
      <c:catAx>
        <c:axId val="1373411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347072"/>
        <c:crosses val="autoZero"/>
        <c:auto val="1"/>
        <c:lblAlgn val="ctr"/>
        <c:lblOffset val="100"/>
        <c:noMultiLvlLbl val="0"/>
      </c:catAx>
      <c:valAx>
        <c:axId val="137347072"/>
        <c:scaling>
          <c:orientation val="minMax"/>
          <c:min val="1.5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341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5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hr-BA"/>
              <a:t>SCI&amp;TECH CHALLENGE 2025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491A2-E1A6-40E2-849C-065A65C0E4BB}" type="datetimeFigureOut">
              <a:rPr lang="hr-BA" smtClean="0"/>
              <a:pPr/>
              <a:t>2. 4. 2026.</a:t>
            </a:fld>
            <a:endParaRPr lang="hr-B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hr-BA"/>
              <a:t>Univerzitet u Zenici, Fakultet inženjerstva i prirodnih nauka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D137F-4D24-4EFF-8C99-DE75135689FD}" type="slidenum">
              <a:rPr lang="hr-BA" smtClean="0"/>
              <a:pPr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98215720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hr-BA"/>
              <a:t>SCI&amp;TECH CHALLENGE 2025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1F924-8400-467E-8F1D-83AA3EC2D04D}" type="datetimeFigureOut">
              <a:rPr lang="hr-BA" smtClean="0"/>
              <a:pPr/>
              <a:t>2. 4. 2026.</a:t>
            </a:fld>
            <a:endParaRPr lang="hr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hr-BA"/>
              <a:t>Univerzitet u Zenici, Fakultet inženjerstva i prirodnih nauka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3D700-B285-4D16-8829-ABD79E1C2EFC}" type="slidenum">
              <a:rPr lang="hr-BA" smtClean="0"/>
              <a:pPr/>
              <a:t>‹#›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19446611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3D700-B285-4D16-8829-ABD79E1C2EFC}" type="slidenum">
              <a:rPr lang="hr-BA" smtClean="0"/>
              <a:pPr/>
              <a:t>1</a:t>
            </a:fld>
            <a:endParaRPr lang="hr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BA"/>
              <a:t>Univerzitet u Zenici, Fakultet inženjerstva i prirodnih nauka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hr-BA"/>
              <a:t>SCI&amp;TECH CHALLENGE 2025</a:t>
            </a:r>
          </a:p>
        </p:txBody>
      </p:sp>
    </p:spTree>
    <p:extLst>
      <p:ext uri="{BB962C8B-B14F-4D97-AF65-F5344CB8AC3E}">
        <p14:creationId xmlns:p14="http://schemas.microsoft.com/office/powerpoint/2010/main" val="48572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r-BA"/>
              <a:t>SCI&amp;TECH CHALLENGE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BA"/>
              <a:t>Univerzitet u Zenici, Fakultet inženjerstva i prirodnih nauka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3D700-B285-4D16-8829-ABD79E1C2EFC}" type="slidenum">
              <a:rPr lang="hr-BA" smtClean="0"/>
              <a:pPr/>
              <a:t>2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1095870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88C143-A0F8-6FCE-A83B-9D134264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1D561E2-6B96-7BE4-CC27-729B907C9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C754452-DDB7-B4AF-AF81-50157484A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BA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xmlns="" id="{619000C0-DDC6-5D9F-AA33-31C27AFE90A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r-BA"/>
              <a:t>SCI&amp;TECH CHALLENGE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BEDF53-19E7-1E74-B97A-7FCCFBD8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BA"/>
              <a:t>Univerzitet u Zenici, Fakultet inženjerstva i prirodnih nauka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5AA8402-894D-1089-CE9F-83B6271E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3D700-B285-4D16-8829-ABD79E1C2EFC}" type="slidenum">
              <a:rPr lang="hr-BA" smtClean="0"/>
              <a:pPr/>
              <a:t>3</a:t>
            </a:fld>
            <a:endParaRPr lang="hr-BA"/>
          </a:p>
        </p:txBody>
      </p:sp>
    </p:spTree>
    <p:extLst>
      <p:ext uri="{BB962C8B-B14F-4D97-AF65-F5344CB8AC3E}">
        <p14:creationId xmlns:p14="http://schemas.microsoft.com/office/powerpoint/2010/main" val="25795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34C4-1CFD-47EB-AD06-A618EB0E75E7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65504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94508-A330-445A-99FC-CC26060BAAD9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78503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6BEC-9EA6-47C2-81FC-2A62F29EADC4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89757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6725-8428-4449-BA6E-9D3725BA0B4C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270750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A02D6-3525-45E3-A21C-35A1B4B6C431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98080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416EB-E7E9-4368-A985-C5D762B45075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2214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50938-1C0B-493E-A717-41CA9F5F5A7F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47049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AFC4-4EE5-49AD-9A64-EFB055F25B87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10834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DBE1-BA4C-4D12-851E-D1FFF7521CCB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18685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F51F-E9F4-4C80-A8EA-33CD5C6CBEEE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47688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5235-BD6A-4E33-A31E-9CF415BBE6A6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67017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b="-14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08C2A-D4DF-450C-9AFE-D1080F03505E}" type="datetime1">
              <a:rPr lang="bs-Latn-BA" smtClean="0"/>
              <a:t>02.04.2026.</a:t>
            </a:fld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s-Latn-BA"/>
              <a:t>SCI&amp;TECH CHALLENGE 2025        Projekat podržan od strane FMON - „Dan nauke u FBiH“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DFAC-E885-46F8-9391-6D289C0B5E92}" type="slidenum">
              <a:rPr lang="bs-Latn-BA" smtClean="0"/>
              <a:pPr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63709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567139" y="243760"/>
            <a:ext cx="9144000" cy="2387600"/>
          </a:xfrm>
        </p:spPr>
        <p:txBody>
          <a:bodyPr>
            <a:normAutofit/>
          </a:bodyPr>
          <a:lstStyle/>
          <a:p>
            <a:r>
              <a:rPr lang="bs-Latn-BA" sz="3200" b="1" cap="all" dirty="0">
                <a:solidFill>
                  <a:srgbClr val="FFD9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Bobi the quadropper</a:t>
            </a:r>
            <a:endParaRPr lang="en-US" b="1" dirty="0">
              <a:solidFill>
                <a:srgbClr val="FFD966"/>
              </a:solidFill>
              <a:cs typeface="Calibri Light" panose="020F0302020204030204"/>
            </a:endParaRPr>
          </a:p>
          <a:p>
            <a:endParaRPr lang="bs-Latn-BA" sz="3200" b="1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 Ligh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-1567139" y="2383439"/>
            <a:ext cx="9144000" cy="3513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Članovi tima: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Žan Mujičić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Amna Kolić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Mirza Čoloman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Adin Kadrić </a:t>
            </a:r>
            <a:r>
              <a:rPr lang="bs-Latn-BA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  <a:cs typeface="Calibri Light"/>
              </a:rPr>
              <a:t> </a:t>
            </a:r>
          </a:p>
          <a:p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Mentor tima: Edina Hodžić</a:t>
            </a:r>
          </a:p>
          <a:p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Naziv škole: Mješovita srednja industrijska škola</a:t>
            </a:r>
          </a:p>
          <a:p>
            <a:r>
              <a:rPr lang="bs-Latn-B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Mjesto škole: Zenica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1</a:t>
            </a:fld>
            <a:endParaRPr lang="bs-Latn-B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1BA63BAD-2D9B-4853-94E1-BE03802F5C42}"/>
              </a:ext>
            </a:extLst>
          </p:cNvPr>
          <p:cNvCxnSpPr/>
          <p:nvPr/>
        </p:nvCxnSpPr>
        <p:spPr>
          <a:xfrm>
            <a:off x="14287" y="1427670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178D586-4190-4AEE-8DB7-50DA6848F9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15" t="19258" r="40549" b="62574"/>
          <a:stretch/>
        </p:blipFill>
        <p:spPr>
          <a:xfrm>
            <a:off x="33068" y="262224"/>
            <a:ext cx="6189174" cy="1048039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  <a:softEdge rad="31750"/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4D9D8A17-9BB2-4861-9F90-E841C9CF2F73}"/>
              </a:ext>
            </a:extLst>
          </p:cNvPr>
          <p:cNvCxnSpPr/>
          <p:nvPr/>
        </p:nvCxnSpPr>
        <p:spPr>
          <a:xfrm>
            <a:off x="-1" y="208625"/>
            <a:ext cx="121634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57AEB57-37A3-41F3-A436-5246B7C9711D}"/>
              </a:ext>
            </a:extLst>
          </p:cNvPr>
          <p:cNvCxnSpPr/>
          <p:nvPr/>
        </p:nvCxnSpPr>
        <p:spPr>
          <a:xfrm>
            <a:off x="28575" y="5832380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169BB55-1DBD-423B-B945-C1CE07A0B642}"/>
              </a:ext>
            </a:extLst>
          </p:cNvPr>
          <p:cNvSpPr/>
          <p:nvPr/>
        </p:nvSpPr>
        <p:spPr>
          <a:xfrm>
            <a:off x="6222242" y="262224"/>
            <a:ext cx="576400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s-Latn-BA" sz="3200" i="1" dirty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Arial" panose="020B0604020202020204" pitchFamily="34" charset="0"/>
              </a:rPr>
              <a:t>SCI&amp;TECH CHALLENGE 2026</a:t>
            </a:r>
          </a:p>
          <a:p>
            <a:pPr algn="ctr"/>
            <a:r>
              <a:rPr lang="bs-Latn-BA" i="1" dirty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UNIVERZITET U ZENICI</a:t>
            </a:r>
          </a:p>
          <a:p>
            <a:pPr algn="ctr"/>
            <a:r>
              <a:rPr lang="bs-Latn-BA" i="1" dirty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Fakultet inženjerstva i prirodnih nauka</a:t>
            </a:r>
            <a:endParaRPr lang="bs-Latn-BA" i="1" dirty="0"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D79AAA9-3B64-BB6D-73D2-5890977FF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273" y="1419461"/>
            <a:ext cx="4173501" cy="441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5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Uvod</a:t>
            </a:r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bs-Latn-BA" sz="3200" dirty="0">
              <a:solidFill>
                <a:schemeClr val="accent4">
                  <a:lumMod val="60000"/>
                  <a:lumOff val="40000"/>
                </a:schemeClr>
              </a:solidFill>
              <a:cs typeface="Calibri Ligh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132226" cy="4351338"/>
          </a:xfrm>
        </p:spPr>
        <p:txBody>
          <a:bodyPr/>
          <a:lstStyle/>
          <a:p>
            <a:r>
              <a:rPr lang="bs-Latn-BA" dirty="0">
                <a:solidFill>
                  <a:schemeClr val="bg1"/>
                </a:solidFill>
              </a:rPr>
              <a:t>Za cilj smo imali da napravimo multifunkcionalnog robotskog psa.</a:t>
            </a:r>
          </a:p>
          <a:p>
            <a:r>
              <a:rPr lang="bs-Latn-BA" dirty="0">
                <a:solidFill>
                  <a:schemeClr val="bg1"/>
                </a:solidFill>
              </a:rPr>
              <a:t>Njegova funkcionalnost se ogleda u detekciji mina ali i u istraživanju nepristupačnih područja te u ekukaciji zbog svoje open-source platforme. 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2</a:t>
            </a:fld>
            <a:endParaRPr lang="bs-Latn-B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88BE5F0-0023-4D83-A7BA-9B23FB38402C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B0FE29E3-005D-428E-A2ED-17F3BDF1B3B6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Slika 8">
            <a:extLst>
              <a:ext uri="{FF2B5EF4-FFF2-40B4-BE49-F238E27FC236}">
                <a16:creationId xmlns:a16="http://schemas.microsoft.com/office/drawing/2014/main" xmlns="" id="{A567F4C0-6399-FF87-099E-8FBA1A324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07" b="15798"/>
          <a:stretch>
            <a:fillRect/>
          </a:stretch>
        </p:blipFill>
        <p:spPr>
          <a:xfrm>
            <a:off x="7089659" y="1690688"/>
            <a:ext cx="5102341" cy="3577335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xmlns="" id="{52E3A1B3-E39F-AB05-6EAF-901297205E85}"/>
              </a:ext>
            </a:extLst>
          </p:cNvPr>
          <p:cNvSpPr txBox="1">
            <a:spLocks/>
          </p:cNvSpPr>
          <p:nvPr/>
        </p:nvSpPr>
        <p:spPr>
          <a:xfrm>
            <a:off x="7089658" y="5402960"/>
            <a:ext cx="5102341" cy="2776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r-BA" sz="2400" dirty="0">
                <a:solidFill>
                  <a:schemeClr val="bg1"/>
                </a:solidFill>
              </a:rPr>
              <a:t>Slika 1. Robot Bobi u prirodnom okruženju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1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D98D1B-3D59-C7A9-3B31-8F866FBB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CAC7E-7073-F81C-854C-F504E385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Uvod</a:t>
            </a:r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bs-Latn-BA" sz="3200" dirty="0">
              <a:solidFill>
                <a:schemeClr val="accent4">
                  <a:lumMod val="60000"/>
                  <a:lumOff val="40000"/>
                </a:schemeClr>
              </a:solidFill>
              <a:cs typeface="Calibri Ligh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1DC86854-D4D8-9D13-FC46-9094CC632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2167" cy="4351338"/>
          </a:xfrm>
        </p:spPr>
        <p:txBody>
          <a:bodyPr/>
          <a:lstStyle/>
          <a:p>
            <a:r>
              <a:rPr lang="bs-Latn-BA" dirty="0">
                <a:solidFill>
                  <a:schemeClr val="bg1"/>
                </a:solidFill>
              </a:rPr>
              <a:t>Što se tiče glavnog cilja, detekcija mina, uloga mu je da </a:t>
            </a:r>
            <a:r>
              <a:rPr lang="bs-Latn-BA" dirty="0" smtClean="0">
                <a:solidFill>
                  <a:schemeClr val="bg1"/>
                </a:solidFill>
              </a:rPr>
              <a:t>pomogne u</a:t>
            </a:r>
            <a:r>
              <a:rPr lang="bs-Latn-BA" dirty="0" smtClean="0">
                <a:solidFill>
                  <a:schemeClr val="bg1"/>
                </a:solidFill>
              </a:rPr>
              <a:t> pregledu </a:t>
            </a:r>
            <a:r>
              <a:rPr lang="bs-Latn-BA" dirty="0">
                <a:solidFill>
                  <a:schemeClr val="bg1"/>
                </a:solidFill>
              </a:rPr>
              <a:t>još neispitanog podrucija oko domaćinstava kojih ima 264,011.</a:t>
            </a:r>
          </a:p>
          <a:p>
            <a:r>
              <a:rPr lang="bs-Latn-BA" dirty="0">
                <a:solidFill>
                  <a:schemeClr val="bg1"/>
                </a:solidFill>
              </a:rPr>
              <a:t>Kontroler sa jednostavnim dizajnom, držačem za telefon i dometom od preko 200m omogućuje lagano </a:t>
            </a:r>
            <a:r>
              <a:rPr lang="bs-Latn-BA" dirty="0" smtClean="0">
                <a:solidFill>
                  <a:schemeClr val="bg1"/>
                </a:solidFill>
              </a:rPr>
              <a:t>upravljanje </a:t>
            </a:r>
            <a:r>
              <a:rPr lang="bs-Latn-BA" dirty="0">
                <a:solidFill>
                  <a:schemeClr val="bg1"/>
                </a:solidFill>
              </a:rPr>
              <a:t>na daljinu bez potrebe za posebnom edukacijom.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6B8573-5809-0851-4231-750BA143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0D8077-EA0A-C5AC-8022-97242412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3</a:t>
            </a:fld>
            <a:endParaRPr lang="bs-Latn-B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A285706-9FFC-805B-0815-172FC8F0CCB1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4F20F8ED-787D-C019-018A-F92909FDF3F4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xmlns="" id="{52E3A1B3-E39F-AB05-6EAF-901297205E85}"/>
              </a:ext>
            </a:extLst>
          </p:cNvPr>
          <p:cNvSpPr txBox="1">
            <a:spLocks/>
          </p:cNvSpPr>
          <p:nvPr/>
        </p:nvSpPr>
        <p:spPr>
          <a:xfrm>
            <a:off x="7089658" y="5402960"/>
            <a:ext cx="5102341" cy="952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r-BA" sz="2400" dirty="0">
                <a:solidFill>
                  <a:schemeClr val="bg1"/>
                </a:solidFill>
              </a:rPr>
              <a:t>Slika 2. Izgled kontrolera sa dodatkom za mobilni telefon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xmlns="" id="{CE054E57-B3B1-5174-179D-08A39C9AF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395" y="-540750"/>
            <a:ext cx="5958065" cy="793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Eksperimentalni </a:t>
            </a:r>
            <a:r>
              <a:rPr lang="bs-Latn-BA" sz="3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dio - Općenito </a:t>
            </a:r>
            <a:endParaRPr lang="hr-BA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199" y="1469231"/>
            <a:ext cx="6162207" cy="4868772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Izradjen je od šperploče, Slika </a:t>
            </a:r>
            <a:r>
              <a:rPr lang="hr-HR" dirty="0" smtClean="0">
                <a:solidFill>
                  <a:schemeClr val="bg1"/>
                </a:solidFill>
              </a:rPr>
              <a:t>3.,  </a:t>
            </a:r>
            <a:r>
              <a:rPr lang="hr-HR" dirty="0">
                <a:solidFill>
                  <a:schemeClr val="bg1"/>
                </a:solidFill>
              </a:rPr>
              <a:t>u kombinaciji sa 3D printanim dijelovima, Slika </a:t>
            </a:r>
            <a:r>
              <a:rPr lang="hr-HR" dirty="0" smtClean="0">
                <a:solidFill>
                  <a:schemeClr val="bg1"/>
                </a:solidFill>
              </a:rPr>
              <a:t>4. </a:t>
            </a:r>
            <a:r>
              <a:rPr lang="hr-HR" dirty="0">
                <a:solidFill>
                  <a:schemeClr val="bg1"/>
                </a:solidFill>
              </a:rPr>
              <a:t>i </a:t>
            </a:r>
            <a:r>
              <a:rPr lang="hr-HR" dirty="0" smtClean="0">
                <a:solidFill>
                  <a:schemeClr val="bg1"/>
                </a:solidFill>
              </a:rPr>
              <a:t>5., </a:t>
            </a:r>
            <a:r>
              <a:rPr lang="hr-HR" dirty="0">
                <a:solidFill>
                  <a:schemeClr val="bg1"/>
                </a:solidFill>
              </a:rPr>
              <a:t>radi održavanja optimalne težine od 480g i stabilnog centra mase.</a:t>
            </a:r>
          </a:p>
          <a:p>
            <a:r>
              <a:rPr lang="hr-HR" dirty="0">
                <a:solidFill>
                  <a:schemeClr val="bg1"/>
                </a:solidFill>
              </a:rPr>
              <a:t>Od softverskog dijela je potpuno programiran u C++ te su daljnje optimizacije i nadogradnje jednostavne za instalaciju.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hr-HR" sz="2400" dirty="0" smtClean="0">
                <a:solidFill>
                  <a:schemeClr val="bg1"/>
                </a:solidFill>
              </a:rPr>
              <a:t>     Slike </a:t>
            </a:r>
            <a:r>
              <a:rPr lang="hr-HR" sz="2400" dirty="0">
                <a:solidFill>
                  <a:schemeClr val="bg1"/>
                </a:solidFill>
              </a:rPr>
              <a:t>3,4,5. Proces izrade dijelova za kontroler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7A11C784-6ACA-4EB6-85FA-73487513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4</a:t>
            </a:fld>
            <a:endParaRPr lang="bs-Latn-B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96A95B8-0F9A-429A-B239-F9E0A5EBBD22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0792B0D-851E-4E4B-8810-A92970A849F1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Slika 12">
            <a:extLst>
              <a:ext uri="{FF2B5EF4-FFF2-40B4-BE49-F238E27FC236}">
                <a16:creationId xmlns:a16="http://schemas.microsoft.com/office/drawing/2014/main" xmlns="" id="{8EEED80C-4E94-5861-E5B4-7AAF41F14F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0" r="4019" b="29006"/>
          <a:stretch>
            <a:fillRect/>
          </a:stretch>
        </p:blipFill>
        <p:spPr>
          <a:xfrm>
            <a:off x="7315201" y="1349998"/>
            <a:ext cx="4862512" cy="2712335"/>
          </a:xfrm>
          <a:prstGeom prst="rect">
            <a:avLst/>
          </a:prstGeom>
          <a:ln w="19050">
            <a:solidFill>
              <a:schemeClr val="bg1">
                <a:alpha val="88000"/>
              </a:schemeClr>
            </a:solidFill>
          </a:ln>
        </p:spPr>
      </p:pic>
      <p:pic>
        <p:nvPicPr>
          <p:cNvPr id="22" name="Slika 21">
            <a:extLst>
              <a:ext uri="{FF2B5EF4-FFF2-40B4-BE49-F238E27FC236}">
                <a16:creationId xmlns:a16="http://schemas.microsoft.com/office/drawing/2014/main" xmlns="" id="{B97C40BD-60B7-41DB-7BB5-AD32D9A763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3" t="15618" r="12866" b="6614"/>
          <a:stretch>
            <a:fillRect/>
          </a:stretch>
        </p:blipFill>
        <p:spPr>
          <a:xfrm>
            <a:off x="9461524" y="4079754"/>
            <a:ext cx="2716188" cy="2275672"/>
          </a:xfrm>
          <a:prstGeom prst="rect">
            <a:avLst/>
          </a:prstGeom>
          <a:ln w="19050">
            <a:solidFill>
              <a:schemeClr val="bg1">
                <a:alpha val="88000"/>
              </a:schemeClr>
            </a:solidFill>
          </a:ln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xmlns="" id="{B2922058-9F97-0813-5F88-B56B327B9D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9" r="18949" b="19685"/>
          <a:stretch>
            <a:fillRect/>
          </a:stretch>
        </p:blipFill>
        <p:spPr>
          <a:xfrm>
            <a:off x="7315200" y="4079755"/>
            <a:ext cx="2146324" cy="2275670"/>
          </a:xfrm>
          <a:prstGeom prst="rect">
            <a:avLst/>
          </a:prstGeom>
          <a:ln w="19050">
            <a:solidFill>
              <a:schemeClr val="bg1">
                <a:alpha val="88000"/>
              </a:schemeClr>
            </a:solidFill>
          </a:ln>
        </p:spPr>
      </p:pic>
      <p:sp>
        <p:nvSpPr>
          <p:cNvPr id="25" name="Content Placeholder 7">
            <a:extLst>
              <a:ext uri="{FF2B5EF4-FFF2-40B4-BE49-F238E27FC236}">
                <a16:creationId xmlns:a16="http://schemas.microsoft.com/office/drawing/2014/main" xmlns="" id="{18DCA1CE-4137-65CA-476B-280952D73D4E}"/>
              </a:ext>
            </a:extLst>
          </p:cNvPr>
          <p:cNvSpPr txBox="1">
            <a:spLocks/>
          </p:cNvSpPr>
          <p:nvPr/>
        </p:nvSpPr>
        <p:spPr>
          <a:xfrm>
            <a:off x="8334531" y="3537680"/>
            <a:ext cx="3857469" cy="295519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600" dirty="0">
                <a:solidFill>
                  <a:schemeClr val="bg1"/>
                </a:solidFill>
                <a:effectLst>
                  <a:glow rad="355600">
                    <a:schemeClr val="tx1">
                      <a:alpha val="33000"/>
                    </a:schemeClr>
                  </a:glow>
                </a:effectLst>
              </a:rPr>
              <a:t>                                   Slika 3.</a:t>
            </a:r>
          </a:p>
          <a:p>
            <a:pPr marL="0" indent="0">
              <a:buNone/>
            </a:pPr>
            <a:endParaRPr lang="hr-HR" sz="2600" dirty="0">
              <a:solidFill>
                <a:schemeClr val="bg1"/>
              </a:solidFill>
              <a:effectLst>
                <a:glow rad="355600">
                  <a:schemeClr val="tx1">
                    <a:alpha val="33000"/>
                  </a:schemeClr>
                </a:glow>
              </a:effectLst>
            </a:endParaRPr>
          </a:p>
          <a:p>
            <a:pPr marL="0" indent="0">
              <a:buNone/>
            </a:pPr>
            <a:endParaRPr lang="hr-HR" sz="2600" dirty="0">
              <a:solidFill>
                <a:schemeClr val="bg1"/>
              </a:solidFill>
              <a:effectLst>
                <a:glow rad="355600">
                  <a:schemeClr val="tx1">
                    <a:alpha val="33000"/>
                  </a:schemeClr>
                </a:glow>
              </a:effectLst>
            </a:endParaRPr>
          </a:p>
          <a:p>
            <a:pPr marL="0" indent="0">
              <a:buNone/>
            </a:pPr>
            <a:endParaRPr lang="hr-HR" sz="2600" dirty="0">
              <a:solidFill>
                <a:schemeClr val="bg1"/>
              </a:solidFill>
              <a:effectLst>
                <a:glow rad="355600">
                  <a:schemeClr val="tx1">
                    <a:alpha val="33000"/>
                  </a:schemeClr>
                </a:glow>
              </a:effectLst>
            </a:endParaRPr>
          </a:p>
          <a:p>
            <a:pPr marL="0" indent="0">
              <a:buNone/>
            </a:pPr>
            <a:endParaRPr lang="hr-HR" sz="2600" dirty="0">
              <a:solidFill>
                <a:schemeClr val="bg1"/>
              </a:solidFill>
              <a:effectLst>
                <a:glow rad="355600">
                  <a:schemeClr val="tx1">
                    <a:alpha val="33000"/>
                  </a:schemeClr>
                </a:glow>
              </a:effectLst>
            </a:endParaRPr>
          </a:p>
          <a:p>
            <a:pPr marL="0" indent="0">
              <a:buNone/>
            </a:pPr>
            <a:r>
              <a:rPr lang="hr-HR" sz="2600" dirty="0">
                <a:solidFill>
                  <a:schemeClr val="bg1"/>
                </a:solidFill>
                <a:effectLst>
                  <a:glow rad="355600">
                    <a:schemeClr val="tx1">
                      <a:alpha val="33000"/>
                    </a:schemeClr>
                  </a:glow>
                </a:effectLst>
              </a:rPr>
              <a:t> Slika 4.                       Slika 5</a:t>
            </a:r>
            <a:r>
              <a:rPr lang="hr-HR" dirty="0">
                <a:solidFill>
                  <a:schemeClr val="bg1"/>
                </a:solidFill>
                <a:effectLst>
                  <a:glow rad="355600">
                    <a:schemeClr val="tx1">
                      <a:alpha val="33000"/>
                    </a:schemeClr>
                  </a:glo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6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736968-4345-C284-D1F8-928E4837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7">
            <a:extLst>
              <a:ext uri="{FF2B5EF4-FFF2-40B4-BE49-F238E27FC236}">
                <a16:creationId xmlns:a16="http://schemas.microsoft.com/office/drawing/2014/main" xmlns="" id="{697925BA-B1A9-86A5-0430-A38D24CB36C4}"/>
              </a:ext>
            </a:extLst>
          </p:cNvPr>
          <p:cNvSpPr txBox="1">
            <a:spLocks/>
          </p:cNvSpPr>
          <p:nvPr/>
        </p:nvSpPr>
        <p:spPr>
          <a:xfrm>
            <a:off x="7174605" y="2966742"/>
            <a:ext cx="5605998" cy="3393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400" dirty="0" smtClean="0">
                <a:solidFill>
                  <a:schemeClr val="bg1"/>
                </a:solidFill>
              </a:rPr>
              <a:t>Slika </a:t>
            </a:r>
            <a:r>
              <a:rPr lang="hr-HR" sz="2400" dirty="0">
                <a:solidFill>
                  <a:schemeClr val="bg1"/>
                </a:solidFill>
              </a:rPr>
              <a:t>6.  </a:t>
            </a:r>
            <a:r>
              <a:rPr lang="hr-HR" sz="2400" dirty="0" smtClean="0">
                <a:solidFill>
                  <a:schemeClr val="bg1"/>
                </a:solidFill>
              </a:rPr>
              <a:t>ESP32        Slika 7. PCA9685</a:t>
            </a:r>
            <a:endParaRPr lang="hr-H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r-HR" sz="2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r-H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r-H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r-H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r-H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r-HR" sz="2400" dirty="0">
                <a:solidFill>
                  <a:schemeClr val="bg1"/>
                </a:solidFill>
              </a:rPr>
              <a:t>Slika </a:t>
            </a:r>
            <a:r>
              <a:rPr lang="hr-HR" sz="2400" dirty="0" smtClean="0">
                <a:solidFill>
                  <a:schemeClr val="bg1"/>
                </a:solidFill>
              </a:rPr>
              <a:t>8. </a:t>
            </a:r>
            <a:r>
              <a:rPr lang="hr-HR" sz="2400" dirty="0">
                <a:solidFill>
                  <a:schemeClr val="bg1"/>
                </a:solidFill>
              </a:rPr>
              <a:t>MG90S      </a:t>
            </a:r>
            <a:r>
              <a:rPr lang="hr-HR" sz="2400" dirty="0" smtClean="0">
                <a:solidFill>
                  <a:schemeClr val="bg1"/>
                </a:solidFill>
              </a:rPr>
              <a:t>      </a:t>
            </a:r>
            <a:r>
              <a:rPr lang="hr-HR" sz="2400" dirty="0">
                <a:solidFill>
                  <a:schemeClr val="bg1"/>
                </a:solidFill>
              </a:rPr>
              <a:t>Slika </a:t>
            </a:r>
            <a:r>
              <a:rPr lang="hr-HR" sz="2400" dirty="0" smtClean="0">
                <a:solidFill>
                  <a:schemeClr val="bg1"/>
                </a:solidFill>
              </a:rPr>
              <a:t>9. </a:t>
            </a:r>
            <a:r>
              <a:rPr lang="hr-HR" sz="2400" dirty="0">
                <a:solidFill>
                  <a:schemeClr val="bg1"/>
                </a:solidFill>
              </a:rPr>
              <a:t>SG90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C1AFD2-153C-4F56-65FE-5F884B2B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Eksperimentalni dio – Robotski pas </a:t>
            </a:r>
            <a:endParaRPr lang="hr-BA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5BE3C668-D93F-A230-ED22-2DB4C21B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5681D9-A29C-9C84-23C0-62D4963C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5</a:t>
            </a:fld>
            <a:endParaRPr lang="bs-Latn-B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FCA130F3-F8E4-2506-0A94-6D16B2AD2971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F8ECAA08-D1B9-2556-A9F9-7F21F8E39F50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6" descr="USB Type-C 2 Pins Waterproof USB Connector Oval Socket Female Plug Fast  Charging with Wire Cable DIY Charger Plug for Car - AliExpress 13">
            <a:extLst>
              <a:ext uri="{FF2B5EF4-FFF2-40B4-BE49-F238E27FC236}">
                <a16:creationId xmlns:a16="http://schemas.microsoft.com/office/drawing/2014/main" xmlns="" id="{A5EEE827-679A-4C51-D05A-D1CFF919C4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BA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xmlns="" id="{4A37632B-EA26-E1C1-77D6-AC191681B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9231"/>
            <a:ext cx="6162207" cy="4868772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Pokreće ga ESP32, Slika </a:t>
            </a:r>
            <a:r>
              <a:rPr lang="hr-HR" dirty="0" smtClean="0">
                <a:solidFill>
                  <a:schemeClr val="bg1"/>
                </a:solidFill>
              </a:rPr>
              <a:t>6., </a:t>
            </a:r>
            <a:r>
              <a:rPr lang="hr-HR" dirty="0">
                <a:solidFill>
                  <a:schemeClr val="bg1"/>
                </a:solidFill>
              </a:rPr>
              <a:t>te je opremljen sa 12 servo motora, Slika </a:t>
            </a:r>
            <a:r>
              <a:rPr lang="hr-HR" dirty="0">
                <a:solidFill>
                  <a:schemeClr val="bg1"/>
                </a:solidFill>
              </a:rPr>
              <a:t>8</a:t>
            </a:r>
            <a:r>
              <a:rPr lang="hr-HR" dirty="0" smtClean="0">
                <a:solidFill>
                  <a:schemeClr val="bg1"/>
                </a:solidFill>
              </a:rPr>
              <a:t>. </a:t>
            </a:r>
            <a:r>
              <a:rPr lang="hr-HR" dirty="0">
                <a:solidFill>
                  <a:schemeClr val="bg1"/>
                </a:solidFill>
              </a:rPr>
              <a:t>i </a:t>
            </a:r>
            <a:r>
              <a:rPr lang="hr-HR" dirty="0">
                <a:solidFill>
                  <a:schemeClr val="bg1"/>
                </a:solidFill>
              </a:rPr>
              <a:t>9</a:t>
            </a:r>
            <a:r>
              <a:rPr lang="hr-HR" dirty="0" smtClean="0">
                <a:solidFill>
                  <a:schemeClr val="bg1"/>
                </a:solidFill>
              </a:rPr>
              <a:t>, </a:t>
            </a:r>
            <a:r>
              <a:rPr lang="hr-HR" dirty="0">
                <a:solidFill>
                  <a:schemeClr val="bg1"/>
                </a:solidFill>
              </a:rPr>
              <a:t>što mu daje 3 stepena slobode po nozi.</a:t>
            </a:r>
          </a:p>
          <a:p>
            <a:r>
              <a:rPr lang="hr-HR" dirty="0">
                <a:solidFill>
                  <a:schemeClr val="bg1"/>
                </a:solidFill>
              </a:rPr>
              <a:t>Za područja sa slabim osvijetljenjem posjeduje dvije bijele led diode na prednjoj strani i po dvije žute led diode na svakoj </a:t>
            </a:r>
            <a:r>
              <a:rPr lang="hr-HR" dirty="0" smtClean="0">
                <a:solidFill>
                  <a:schemeClr val="bg1"/>
                </a:solidFill>
              </a:rPr>
              <a:t>strani.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Aktivni i pasivni hladnjaci osiguravaju kontinuiran rad bez pregrijavanja.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17" name="Picture 4" descr="TowerPro Servo Motor - SG90 Digital - The Pi Hut">
            <a:extLst>
              <a:ext uri="{FF2B5EF4-FFF2-40B4-BE49-F238E27FC236}">
                <a16:creationId xmlns:a16="http://schemas.microsoft.com/office/drawing/2014/main" xmlns="" id="{CCD288C0-E197-E59A-7D15-79EC4944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267" r="90733">
                        <a14:foregroundMark x1="22533" y1="62933" x2="1333" y2="64933"/>
                        <a14:foregroundMark x1="20533" y1="59667" x2="3267" y2="63200"/>
                        <a14:foregroundMark x1="90267" y1="34067" x2="90733" y2="439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076" y="3743989"/>
            <a:ext cx="2120015" cy="212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xmlns="" id="{7FCC02AA-498C-B86D-5C12-921816B314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929" y="1856464"/>
            <a:ext cx="2101270" cy="1110278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xmlns="" id="{00AC45E4-3F90-1215-3FB8-7D99CFF16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56" y="3743989"/>
            <a:ext cx="2120015" cy="212001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11500" y1="39500" x2="11500" y2="39500"/>
                        <a14:foregroundMark x1="11667" y1="48500" x2="11667" y2="48500"/>
                        <a14:foregroundMark x1="11500" y1="51500" x2="11500" y2="51500"/>
                        <a14:foregroundMark x1="12667" y1="51500" x2="12667" y2="51500"/>
                        <a14:foregroundMark x1="10500" y1="51500" x2="10500" y2="51500"/>
                        <a14:foregroundMark x1="12000" y1="54667" x2="12000" y2="54667"/>
                        <a14:foregroundMark x1="10833" y1="45667" x2="10833" y2="4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31" t="29895" r="11544" b="36341"/>
          <a:stretch/>
        </p:blipFill>
        <p:spPr bwMode="auto">
          <a:xfrm>
            <a:off x="9294620" y="1727086"/>
            <a:ext cx="2883092" cy="1239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09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50605F-18C1-6E71-1564-1887B59B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xmlns="" id="{DA74302B-3288-4FB6-C21F-95BF36C70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774" y="1124262"/>
            <a:ext cx="4431898" cy="33258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92A7AB-5E43-943B-350B-93332E00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Eksperimentalni dio - Kontroler </a:t>
            </a:r>
            <a:endParaRPr lang="hr-BA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39EB0404-BB57-CC3B-B7C3-B942577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3965D2D-5F1D-3343-758D-C16B77AD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6</a:t>
            </a:fld>
            <a:endParaRPr lang="bs-Latn-B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4AEB8DD-24B9-60C3-38AB-92CA93A2EC93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2BB142D1-0883-05E7-7567-2B2CFD4463FA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xmlns="" id="{A92F8449-BEE5-75C3-5E2D-51EB8C8CB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190" y="1767068"/>
            <a:ext cx="5802443" cy="1554302"/>
          </a:xfrm>
        </p:spPr>
        <p:txBody>
          <a:bodyPr/>
          <a:lstStyle/>
          <a:p>
            <a:pPr marL="0" indent="0">
              <a:buNone/>
            </a:pPr>
            <a:r>
              <a:rPr lang="bs-Latn-BA" dirty="0">
                <a:solidFill>
                  <a:schemeClr val="bg1"/>
                </a:solidFill>
              </a:rPr>
              <a:t>9x Pushbutton tipki</a:t>
            </a:r>
          </a:p>
          <a:p>
            <a:pPr marL="0" indent="0">
              <a:buNone/>
            </a:pPr>
            <a:r>
              <a:rPr lang="bs-Latn-BA" dirty="0">
                <a:solidFill>
                  <a:schemeClr val="bg1"/>
                </a:solidFill>
              </a:rPr>
              <a:t>1x Joystic</a:t>
            </a:r>
          </a:p>
          <a:p>
            <a:pPr marL="0" indent="0">
              <a:buNone/>
            </a:pPr>
            <a:r>
              <a:rPr lang="bs-Latn-BA" dirty="0">
                <a:solidFill>
                  <a:schemeClr val="bg1"/>
                </a:solidFill>
              </a:rPr>
              <a:t>3D printanje i Lasersko rezanje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xmlns="" id="{38C5F8B0-1603-610D-05AD-8F50FA6672BB}"/>
              </a:ext>
            </a:extLst>
          </p:cNvPr>
          <p:cNvSpPr txBox="1">
            <a:spLocks/>
          </p:cNvSpPr>
          <p:nvPr/>
        </p:nvSpPr>
        <p:spPr>
          <a:xfrm>
            <a:off x="6850340" y="4587875"/>
            <a:ext cx="5802443" cy="1951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s-Latn-BA" dirty="0">
                <a:solidFill>
                  <a:schemeClr val="bg1"/>
                </a:solidFill>
              </a:rPr>
              <a:t>Led indikator detekcije mina</a:t>
            </a:r>
          </a:p>
          <a:p>
            <a:r>
              <a:rPr lang="bs-Latn-BA" dirty="0">
                <a:solidFill>
                  <a:schemeClr val="bg1"/>
                </a:solidFill>
              </a:rPr>
              <a:t>Držač telefona za pristup kameri</a:t>
            </a:r>
          </a:p>
          <a:p>
            <a:r>
              <a:rPr lang="bs-Latn-BA" dirty="0">
                <a:solidFill>
                  <a:schemeClr val="bg1"/>
                </a:solidFill>
              </a:rPr>
              <a:t>Pogonjen sa ESP32</a:t>
            </a:r>
          </a:p>
        </p:txBody>
      </p:sp>
      <p:pic>
        <p:nvPicPr>
          <p:cNvPr id="21" name="Slika 20">
            <a:extLst>
              <a:ext uri="{FF2B5EF4-FFF2-40B4-BE49-F238E27FC236}">
                <a16:creationId xmlns:a16="http://schemas.microsoft.com/office/drawing/2014/main" xmlns="" id="{2D00CFDC-D93A-EAE9-9A04-049D6FEA7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928" l="8856" r="89889">
                        <a14:foregroundMark x1="10258" y1="53901" x2="12325" y2="53237"/>
                        <a14:foregroundMark x1="9077" y1="53735" x2="9815" y2="52518"/>
                        <a14:foregroundMark x1="18967" y1="26121" x2="18967" y2="27006"/>
                        <a14:foregroundMark x1="67085" y1="80631" x2="67085" y2="79303"/>
                        <a14:foregroundMark x1="66863" y1="81018" x2="66863" y2="81018"/>
                        <a14:foregroundMark x1="70775" y1="69950" x2="71218" y2="68401"/>
                        <a14:foregroundMark x1="46863" y1="61483" x2="49151" y2="62037"/>
                        <a14:foregroundMark x1="52325" y1="63254" x2="53506" y2="63586"/>
                        <a14:foregroundMark x1="54465" y1="62867" x2="54618" y2="62867"/>
                        <a14:foregroundMark x1="63483" y1="64669" x2="66199" y2="65302"/>
                        <a14:foregroundMark x1="59863" y1="63825" x2="61266" y2="64152"/>
                        <a14:foregroundMark x1="54341" y1="62538" x2="54958" y2="62682"/>
                        <a14:foregroundMark x1="49815" y1="61483" x2="52801" y2="62179"/>
                        <a14:foregroundMark x1="16679" y1="51854" x2="23616" y2="50968"/>
                        <a14:foregroundMark x1="14170" y1="54400" x2="15572" y2="53569"/>
                        <a14:foregroundMark x1="13210" y1="51688" x2="14391" y2="50968"/>
                        <a14:foregroundMark x1="27780" y1="26701" x2="30923" y2="24737"/>
                        <a14:foregroundMark x1="24280" y1="28888" x2="27703" y2="26749"/>
                        <a14:foregroundMark x1="21550" y1="30769" x2="22845" y2="30868"/>
                        <a14:foregroundMark x1="30996" y1="31489" x2="30701" y2="31101"/>
                        <a14:foregroundMark x1="23100" y1="31489" x2="27970" y2="31987"/>
                        <a14:foregroundMark x1="38303" y1="69784" x2="40590" y2="70836"/>
                        <a14:foregroundMark x1="36974" y1="70836" x2="41107" y2="71334"/>
                        <a14:foregroundMark x1="34834" y1="71168" x2="43838" y2="72053"/>
                        <a14:foregroundMark x1="38524" y1="71832" x2="40886" y2="71832"/>
                        <a14:foregroundMark x1="67528" y1="66353" x2="68930" y2="66685"/>
                        <a14:foregroundMark x1="68930" y1="66353" x2="70996" y2="68235"/>
                        <a14:foregroundMark x1="8856" y1="52352" x2="13432" y2="51854"/>
                        <a14:foregroundMark x1="31144" y1="45213" x2="34317" y2="44936"/>
                        <a14:backgroundMark x1="20369" y1="54953" x2="21033" y2="57001"/>
                        <a14:backgroundMark x1="27306" y1="59602" x2="27306" y2="60985"/>
                        <a14:backgroundMark x1="24280" y1="65634" x2="24945" y2="66187"/>
                        <a14:backgroundMark x1="27749" y1="64084" x2="27749" y2="64084"/>
                        <a14:backgroundMark x1="26790" y1="67183" x2="26790" y2="67183"/>
                        <a14:backgroundMark x1="29151" y1="68069" x2="29151" y2="68069"/>
                        <a14:backgroundMark x1="29151" y1="68235" x2="30037" y2="68235"/>
                        <a14:backgroundMark x1="27528" y1="67515" x2="28192" y2="67737"/>
                        <a14:backgroundMark x1="32103" y1="68733" x2="29373" y2="68567"/>
                        <a14:backgroundMark x1="40590" y1="59602" x2="73432" y2="59491"/>
                        <a14:backgroundMark x1="73432" y1="59491" x2="73727" y2="59602"/>
                        <a14:backgroundMark x1="49815" y1="63420" x2="49815" y2="63420"/>
                        <a14:backgroundMark x1="66421" y1="79469" x2="66421" y2="79469"/>
                        <a14:backgroundMark x1="27528" y1="32872" x2="28413" y2="32872"/>
                        <a14:backgroundMark x1="27306" y1="29939" x2="28413" y2="29386"/>
                        <a14:backgroundMark x1="35129" y1="61483" x2="34391" y2="58550"/>
                        <a14:backgroundMark x1="31439" y1="58384" x2="32103" y2="57333"/>
                        <a14:backgroundMark x1="29594" y1="53901" x2="30037" y2="54787"/>
                        <a14:backgroundMark x1="54686" y1="59436" x2="70111" y2="62701"/>
                        <a14:backgroundMark x1="66642" y1="64970" x2="67528" y2="64970"/>
                        <a14:backgroundMark x1="58819" y1="61483" x2="58819" y2="61483"/>
                        <a14:backgroundMark x1="56236" y1="61649" x2="57860" y2="61871"/>
                        <a14:backgroundMark x1="52841" y1="60985" x2="56015" y2="61151"/>
                        <a14:backgroundMark x1="47528" y1="59934" x2="49815" y2="60487"/>
                        <a14:backgroundMark x1="47085" y1="59934" x2="51439" y2="60100"/>
                        <a14:backgroundMark x1="43838" y1="63254" x2="45240" y2="63752"/>
                        <a14:backgroundMark x1="53063" y1="61871" x2="54908" y2="61871"/>
                        <a14:backgroundMark x1="55572" y1="61871" x2="59262" y2="62369"/>
                        <a14:backgroundMark x1="58081" y1="62535" x2="60664" y2="63033"/>
                        <a14:backgroundMark x1="62288" y1="63420" x2="65018" y2="63752"/>
                        <a14:backgroundMark x1="55793" y1="62037" x2="56531" y2="62369"/>
                        <a14:backgroundMark x1="55793" y1="62369" x2="57860" y2="62701"/>
                        <a14:backgroundMark x1="61328" y1="63420" x2="63395" y2="63420"/>
                        <a14:backgroundMark x1="61993" y1="63752" x2="66199" y2="64250"/>
                        <a14:backgroundMark x1="61771" y1="64250" x2="63838" y2="64250"/>
                        <a14:backgroundMark x1="26125" y1="26619" x2="28413" y2="24903"/>
                        <a14:backgroundMark x1="35793" y1="62369" x2="34613" y2="58384"/>
                        <a14:backgroundMark x1="28635" y1="64250" x2="30037" y2="65634"/>
                        <a14:backgroundMark x1="31218" y1="66685" x2="31218" y2="66685"/>
                        <a14:backgroundMark x1="30923" y1="60819" x2="30923" y2="58052"/>
                        <a14:backgroundMark x1="23395" y1="30105" x2="24945" y2="29773"/>
                        <a14:backgroundMark x1="24723" y1="30271" x2="25683" y2="29939"/>
                        <a14:backgroundMark x1="23838" y1="30437" x2="25166" y2="30105"/>
                        <a14:backgroundMark x1="23616" y1="30935" x2="25683" y2="30603"/>
                        <a14:backgroundMark x1="21550" y1="49419" x2="22214" y2="47703"/>
                        <a14:backgroundMark x1="22435" y1="28002" x2="26568" y2="26619"/>
                        <a14:backgroundMark x1="27970" y1="26287" x2="28192" y2="25623"/>
                        <a14:backgroundMark x1="26568" y1="31323" x2="26568" y2="31323"/>
                        <a14:backgroundMark x1="15277" y1="52684" x2="15277" y2="52684"/>
                        <a14:backgroundMark x1="13948" y1="52352" x2="15277" y2="52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20" t="12489" r="28539" b="12094"/>
          <a:stretch>
            <a:fillRect/>
          </a:stretch>
        </p:blipFill>
        <p:spPr>
          <a:xfrm rot="5400000">
            <a:off x="1660896" y="2642875"/>
            <a:ext cx="2420102" cy="3777092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xmlns="" id="{D3EEA494-F345-F6F8-C57B-13D379E20B87}"/>
              </a:ext>
            </a:extLst>
          </p:cNvPr>
          <p:cNvSpPr txBox="1">
            <a:spLocks/>
          </p:cNvSpPr>
          <p:nvPr/>
        </p:nvSpPr>
        <p:spPr>
          <a:xfrm>
            <a:off x="577822" y="5745956"/>
            <a:ext cx="5802443" cy="1951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dirty="0" smtClean="0">
                <a:solidFill>
                  <a:schemeClr val="bg1"/>
                </a:solidFill>
              </a:rPr>
              <a:t>   Slika 10. </a:t>
            </a:r>
            <a:r>
              <a:rPr lang="bs-Latn-BA" sz="2400" dirty="0">
                <a:solidFill>
                  <a:schemeClr val="bg1"/>
                </a:solidFill>
              </a:rPr>
              <a:t>Matična ploča </a:t>
            </a:r>
            <a:r>
              <a:rPr lang="bs-Latn-BA" sz="2400" dirty="0" err="1">
                <a:solidFill>
                  <a:schemeClr val="bg1"/>
                </a:solidFill>
              </a:rPr>
              <a:t>kontrolera</a:t>
            </a:r>
            <a:endParaRPr lang="bs-Latn-BA" sz="2400" dirty="0">
              <a:solidFill>
                <a:schemeClr val="bg1"/>
              </a:solidFill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xmlns="" id="{502F15DF-D5AF-A98A-A691-36BCFE9C5109}"/>
              </a:ext>
            </a:extLst>
          </p:cNvPr>
          <p:cNvSpPr txBox="1">
            <a:spLocks/>
          </p:cNvSpPr>
          <p:nvPr/>
        </p:nvSpPr>
        <p:spPr>
          <a:xfrm>
            <a:off x="7080978" y="4019967"/>
            <a:ext cx="5802443" cy="1951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2400" dirty="0">
                <a:solidFill>
                  <a:schemeClr val="bg1"/>
                </a:solidFill>
              </a:rPr>
              <a:t>Slika </a:t>
            </a:r>
            <a:r>
              <a:rPr lang="bs-Latn-BA" sz="2400" dirty="0" smtClean="0">
                <a:solidFill>
                  <a:schemeClr val="bg1"/>
                </a:solidFill>
              </a:rPr>
              <a:t>11. </a:t>
            </a:r>
            <a:r>
              <a:rPr lang="bs-Latn-BA" sz="2400" dirty="0">
                <a:solidFill>
                  <a:schemeClr val="bg1"/>
                </a:solidFill>
              </a:rPr>
              <a:t>Završni izgled </a:t>
            </a:r>
            <a:r>
              <a:rPr lang="bs-Latn-BA" sz="2400" dirty="0" err="1">
                <a:solidFill>
                  <a:schemeClr val="bg1"/>
                </a:solidFill>
              </a:rPr>
              <a:t>kontrolera</a:t>
            </a:r>
            <a:endParaRPr lang="bs-Latn-B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7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Rezultati ispitivanja/Analiza rezultata</a:t>
            </a:r>
            <a:endParaRPr lang="hr-BA" sz="3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6765758" cy="4351338"/>
          </a:xfrm>
          <a:noFill/>
        </p:spPr>
        <p:txBody>
          <a:bodyPr/>
          <a:lstStyle/>
          <a:p>
            <a:r>
              <a:rPr lang="bs-Latn-BA" dirty="0">
                <a:solidFill>
                  <a:schemeClr val="bg1"/>
                </a:solidFill>
              </a:rPr>
              <a:t>Kod hodanja zaključili smo da je najstabilniji način kretanja kad su mu tri noge uvijek na tlu dok jedna obavlja kretnju.</a:t>
            </a:r>
          </a:p>
          <a:p>
            <a:r>
              <a:rPr lang="bs-Latn-BA" dirty="0">
                <a:solidFill>
                  <a:schemeClr val="bg1"/>
                </a:solidFill>
              </a:rPr>
              <a:t>Pri detekciji mine aktivira se buzer koji počinje da daje zvučni signal za detekciju kao i aktivacija žutih led dioda za signalizaciju.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9C30C02B-49EA-4A9A-9980-ECC5AE6C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7</a:t>
            </a:fld>
            <a:endParaRPr lang="bs-Latn-B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2CA09E80-4030-4B13-B87C-D208045BBBEB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A747011-A8D0-4139-8C0D-7ED48416D652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Slika 12">
            <a:extLst>
              <a:ext uri="{FF2B5EF4-FFF2-40B4-BE49-F238E27FC236}">
                <a16:creationId xmlns:a16="http://schemas.microsoft.com/office/drawing/2014/main" xmlns="" id="{F564EF56-FA0E-6FA9-DF6D-E2AFFC6166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86" y="2037432"/>
            <a:ext cx="2051627" cy="2577125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xmlns="" id="{4372CEDC-0BC0-BD35-E18E-BC77BB30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3" r="17615"/>
          <a:stretch>
            <a:fillRect/>
          </a:stretch>
        </p:blipFill>
        <p:spPr>
          <a:xfrm>
            <a:off x="9943413" y="2036508"/>
            <a:ext cx="2234299" cy="2577124"/>
          </a:xfrm>
          <a:prstGeom prst="rect">
            <a:avLst/>
          </a:prstGeom>
        </p:spPr>
      </p:pic>
      <p:sp>
        <p:nvSpPr>
          <p:cNvPr id="16" name="Content Placeholder 5">
            <a:extLst>
              <a:ext uri="{FF2B5EF4-FFF2-40B4-BE49-F238E27FC236}">
                <a16:creationId xmlns:a16="http://schemas.microsoft.com/office/drawing/2014/main" xmlns="" id="{EE530D85-13E0-5995-E91D-A8491437DA73}"/>
              </a:ext>
            </a:extLst>
          </p:cNvPr>
          <p:cNvSpPr txBox="1">
            <a:spLocks/>
          </p:cNvSpPr>
          <p:nvPr/>
        </p:nvSpPr>
        <p:spPr>
          <a:xfrm>
            <a:off x="7828547" y="4976417"/>
            <a:ext cx="4363453" cy="12005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r-HR" sz="2400" dirty="0">
                <a:solidFill>
                  <a:schemeClr val="bg1"/>
                </a:solidFill>
              </a:rPr>
              <a:t>Slika </a:t>
            </a:r>
            <a:r>
              <a:rPr lang="hr-HR" sz="2400" dirty="0" smtClean="0">
                <a:solidFill>
                  <a:schemeClr val="bg1"/>
                </a:solidFill>
              </a:rPr>
              <a:t>12. </a:t>
            </a:r>
            <a:r>
              <a:rPr lang="hr-HR" sz="2400" dirty="0">
                <a:solidFill>
                  <a:schemeClr val="bg1"/>
                </a:solidFill>
              </a:rPr>
              <a:t>Dizajn noge u stvarnosti i u CAD softveru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2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4514DA-62B2-84E1-A6E1-94EB5ACA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8A3C00-5573-11E4-9C47-62147D7A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Rezultati ispitivanja/Analiza rezultata</a:t>
            </a:r>
            <a:endParaRPr lang="hr-BA" sz="3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905BB3A2-E358-263B-C26C-0BF7A8B0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A6C0CC7-4032-5A21-0C73-662387AC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8</a:t>
            </a:fld>
            <a:endParaRPr lang="bs-Latn-B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3687A3D-3422-893F-7291-56684ECB665A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C08E184-46C2-BBA3-9438-A87152A9B358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Grafikon 10">
            <a:extLst>
              <a:ext uri="{FF2B5EF4-FFF2-40B4-BE49-F238E27FC236}">
                <a16:creationId xmlns:a16="http://schemas.microsoft.com/office/drawing/2014/main" xmlns="" id="{010B66BC-A985-8E4E-E8F6-077841173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753632"/>
              </p:ext>
            </p:extLst>
          </p:nvPr>
        </p:nvGraphicFramePr>
        <p:xfrm>
          <a:off x="14287" y="1690688"/>
          <a:ext cx="6096280" cy="4108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afikon 11">
            <a:extLst>
              <a:ext uri="{FF2B5EF4-FFF2-40B4-BE49-F238E27FC236}">
                <a16:creationId xmlns:a16="http://schemas.microsoft.com/office/drawing/2014/main" xmlns="" id="{7A9469D2-0782-204B-C447-5CC165F400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665757"/>
              </p:ext>
            </p:extLst>
          </p:nvPr>
        </p:nvGraphicFramePr>
        <p:xfrm>
          <a:off x="6125133" y="1689566"/>
          <a:ext cx="6081433" cy="4109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1288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Zaključci </a:t>
            </a:r>
            <a:endParaRPr lang="hr-BA" sz="32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5675A32C-ADFA-4AF1-91CC-43F19B40AD7B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98D6278-3DC8-42DC-84B9-2204EBD94194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D2DCF6FF-7838-4E84-93AA-F54FC027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6756" y="6355425"/>
            <a:ext cx="11821886" cy="365125"/>
          </a:xfrm>
        </p:spPr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9</a:t>
            </a:fld>
            <a:endParaRPr lang="bs-Latn-B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5391150" cy="4351338"/>
          </a:xfrm>
        </p:spPr>
        <p:txBody>
          <a:bodyPr/>
          <a:lstStyle/>
          <a:p>
            <a:r>
              <a:rPr lang="bs-Latn-BA" dirty="0">
                <a:solidFill>
                  <a:schemeClr val="bg1"/>
                </a:solidFill>
              </a:rPr>
              <a:t>Naš robot je izređen sa ciljem da pomogne u poslovima koji nisu sigurni i pristupačni za ljude ali i za edukaciju u smislu programiranja.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bs-Latn-BA" dirty="0">
                <a:solidFill>
                  <a:schemeClr val="bg1"/>
                </a:solidFill>
              </a:rPr>
              <a:t>Pri izradi i odabiru dijelova smo išli na to da sveukupna cijena ne prelazi 150KM kako bi bio što pristupačniji običnim korisnicima.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xmlns="" id="{CD03EF41-FF9D-B17C-4B99-9F1EE2ACF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4054">
            <a:off x="5493513" y="1292343"/>
            <a:ext cx="7458935" cy="5597433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xmlns="" id="{EE530D85-13E0-5995-E91D-A8491437DA73}"/>
              </a:ext>
            </a:extLst>
          </p:cNvPr>
          <p:cNvSpPr txBox="1">
            <a:spLocks/>
          </p:cNvSpPr>
          <p:nvPr/>
        </p:nvSpPr>
        <p:spPr>
          <a:xfrm>
            <a:off x="7537602" y="5852134"/>
            <a:ext cx="4363453" cy="60027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r-HR" sz="2400" dirty="0">
                <a:solidFill>
                  <a:schemeClr val="bg1"/>
                </a:solidFill>
              </a:rPr>
              <a:t>Slika </a:t>
            </a:r>
            <a:r>
              <a:rPr lang="hr-HR" sz="2400" dirty="0" smtClean="0">
                <a:solidFill>
                  <a:schemeClr val="bg1"/>
                </a:solidFill>
              </a:rPr>
              <a:t>13. </a:t>
            </a:r>
            <a:r>
              <a:rPr lang="hr-HR" sz="2400" dirty="0">
                <a:solidFill>
                  <a:schemeClr val="bg1"/>
                </a:solidFill>
              </a:rPr>
              <a:t>Robot pas </a:t>
            </a:r>
            <a:r>
              <a:rPr lang="hr-HR" sz="2400" dirty="0" smtClean="0">
                <a:solidFill>
                  <a:schemeClr val="bg1"/>
                </a:solidFill>
              </a:rPr>
              <a:t>„Bobi”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14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BBBB2C-EB32-5A4C-7A79-7D31F2F2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A719C-8FC0-CE71-A75D-E4A80DEF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Zaključci </a:t>
            </a:r>
            <a:endParaRPr lang="hr-BA" sz="32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8BDED13-682B-47C8-B1D4-A71AEC3DA3B8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EE0D0BAD-D6D7-69B1-92DF-A6CFB544F599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104C9D12-FBC2-77EB-59F9-27E8D185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6756" y="6355425"/>
            <a:ext cx="11821886" cy="365125"/>
          </a:xfrm>
        </p:spPr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C46FCD5-A87F-F1F2-80C2-3F81B0A8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10</a:t>
            </a:fld>
            <a:endParaRPr lang="bs-Latn-B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94A5BD31-A7FC-E1D3-DC4B-9153D94E5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" y="1746913"/>
            <a:ext cx="5991366" cy="4608512"/>
          </a:xfrm>
        </p:spPr>
        <p:txBody>
          <a:bodyPr>
            <a:normAutofit/>
          </a:bodyPr>
          <a:lstStyle/>
          <a:p>
            <a:r>
              <a:rPr lang="bs-Latn-BA" dirty="0">
                <a:solidFill>
                  <a:schemeClr val="bg1"/>
                </a:solidFill>
              </a:rPr>
              <a:t>Samo upravljanje robotom je napravljno što jednostavnije da bi njime mogao bilo ko upravljati ali je </a:t>
            </a:r>
            <a:r>
              <a:rPr lang="bs-Latn-BA" dirty="0" smtClean="0">
                <a:solidFill>
                  <a:schemeClr val="bg1"/>
                </a:solidFill>
              </a:rPr>
              <a:t>programiran na način da radi samo sa ranije navedenim kontrolerom.</a:t>
            </a:r>
            <a:endParaRPr lang="bs-Latn-BA" dirty="0">
              <a:solidFill>
                <a:schemeClr val="bg1"/>
              </a:solidFill>
            </a:endParaRPr>
          </a:p>
          <a:p>
            <a:r>
              <a:rPr lang="bs-Latn-BA" dirty="0">
                <a:solidFill>
                  <a:schemeClr val="bg1"/>
                </a:solidFill>
              </a:rPr>
              <a:t>Radi tri stepena slobode  po nozi mogući su mu razni specijalni pokreti i kretnje poput mahanja ili čak plesanja.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xmlns="" id="{38F75D03-9832-624F-7280-D620C27C6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79" y="1129219"/>
            <a:ext cx="7712446" cy="578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9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s-Latn-BA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Literatura </a:t>
            </a:r>
            <a:endParaRPr lang="hr-BA" sz="32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[1] https://www.bhmac.org/ (12.09.2025.)</a:t>
            </a:r>
          </a:p>
          <a:p>
            <a:r>
              <a:rPr lang="en-US" dirty="0">
                <a:solidFill>
                  <a:schemeClr val="bg1"/>
                </a:solidFill>
              </a:rPr>
              <a:t>[2] https://bostondynamics.com/products/spot/ (19.09.2025.)</a:t>
            </a:r>
          </a:p>
          <a:p>
            <a:r>
              <a:rPr lang="en-US" dirty="0">
                <a:solidFill>
                  <a:schemeClr val="bg1"/>
                </a:solidFill>
              </a:rPr>
              <a:t>[3] https://www.arduino.cc/en/software/ (17.09.2025.)</a:t>
            </a:r>
          </a:p>
          <a:p>
            <a:r>
              <a:rPr lang="en-US" dirty="0">
                <a:solidFill>
                  <a:schemeClr val="bg1"/>
                </a:solidFill>
              </a:rPr>
              <a:t>[4] https://www.autodesk.com/products/fusion-360/overview (04.09.2025.)</a:t>
            </a:r>
          </a:p>
          <a:p>
            <a:r>
              <a:rPr lang="en-US" dirty="0">
                <a:solidFill>
                  <a:schemeClr val="bg1"/>
                </a:solidFill>
              </a:rPr>
              <a:t>[5] https://ultimaker.com/software/ultimaker-cura/ (15.09.2025.)</a:t>
            </a:r>
          </a:p>
          <a:p>
            <a:r>
              <a:rPr lang="en-US" dirty="0">
                <a:solidFill>
                  <a:schemeClr val="bg1"/>
                </a:solidFill>
              </a:rPr>
              <a:t>[6] https://webapp.craftseek.com/#/download (24.09.2025.)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E8684717-A0C1-4532-B362-4F8EA763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s-Latn-BA" b="1" i="1" dirty="0">
                <a:solidFill>
                  <a:schemeClr val="bg1"/>
                </a:solidFill>
              </a:rPr>
              <a:t>SCI&amp;TECH CHALLENGE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DFAC-E885-46F8-9391-6D289C0B5E92}" type="slidenum">
              <a:rPr lang="bs-Latn-BA" smtClean="0"/>
              <a:pPr/>
              <a:t>11</a:t>
            </a:fld>
            <a:endParaRPr lang="bs-Latn-B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2ED4578-6582-4F3C-A45D-AB21B882D553}"/>
              </a:ext>
            </a:extLst>
          </p:cNvPr>
          <p:cNvCxnSpPr/>
          <p:nvPr/>
        </p:nvCxnSpPr>
        <p:spPr>
          <a:xfrm>
            <a:off x="14287" y="635542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AC8168D-A26D-47BA-974C-38BF1FC9192B}"/>
              </a:ext>
            </a:extLst>
          </p:cNvPr>
          <p:cNvCxnSpPr/>
          <p:nvPr/>
        </p:nvCxnSpPr>
        <p:spPr>
          <a:xfrm>
            <a:off x="14287" y="1332575"/>
            <a:ext cx="121634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190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</TotalTime>
  <Words>648</Words>
  <Application>Microsoft Office PowerPoint</Application>
  <PresentationFormat>Custom</PresentationFormat>
  <Paragraphs>106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Bobi the quadropper </vt:lpstr>
      <vt:lpstr>Uvod </vt:lpstr>
      <vt:lpstr>Uvod </vt:lpstr>
      <vt:lpstr>Eksperimentalni dio - Općenito </vt:lpstr>
      <vt:lpstr>Eksperimentalni dio – Robotski pas </vt:lpstr>
      <vt:lpstr>Eksperimentalni dio - Kontroler </vt:lpstr>
      <vt:lpstr>Rezultati ispitivanja/Analiza rezultata</vt:lpstr>
      <vt:lpstr>Rezultati ispitivanja/Analiza rezultata</vt:lpstr>
      <vt:lpstr>Zaključci </vt:lpstr>
      <vt:lpstr>Zaključci </vt:lpstr>
      <vt:lpstr>Literatura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</dc:creator>
  <cp:lastModifiedBy>Edina Uzunović</cp:lastModifiedBy>
  <cp:revision>34</cp:revision>
  <dcterms:created xsi:type="dcterms:W3CDTF">2021-03-09T11:12:48Z</dcterms:created>
  <dcterms:modified xsi:type="dcterms:W3CDTF">2026-04-02T16:31:09Z</dcterms:modified>
</cp:coreProperties>
</file>